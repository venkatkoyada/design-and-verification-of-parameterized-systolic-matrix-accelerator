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414"/>
  </p:normalViewPr>
  <p:slideViewPr>
    <p:cSldViewPr snapToGrid="0" snapToObjects="1">
      <p:cViewPr>
        <p:scale>
          <a:sx n="66" d="100"/>
          <a:sy n="66" d="100"/>
        </p:scale>
        <p:origin x="1301" y="3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64008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338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Design &amp; Verification of a
Parameterized Systolic Array
Matrix Multiplication Accelerator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46120"/>
            <a:ext cx="5029200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0E0EF"/>
                </a:solidFill>
              </a:rPr>
              <a:t>ECE 593: Fundamentals of Pre-Silicon Validation
Maseeh College of Engineering and Computer Science  ·  Spring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206240"/>
            <a:ext cx="6583680" cy="228600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8172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Hanisha Dhananjaya Produtur  ·  hanisha@pdx.edu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</a:rPr>
              <a:t>RTL Top / Systolic Array  ·  UVM Env &amp; Scoreboard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3036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Nikhil Swarna  ·  nikhilsw@pdx.edu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</a:rPr>
              <a:t>RTL Controller  ·  UVM Driver &amp; Sequences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7900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Venkat Sai Sumanth Koyada  ·  koyada@pdx.edu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</a:rPr>
              <a:t>RTL PE &amp; Input Skew  ·  UVM Coverage &amp;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55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4/15/2026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Project Overview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64808"/>
            <a:ext cx="121889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ECE 593 — Spring 2026  |  Portland State University   2/8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5394960" cy="507492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300"/>
                </a:solidFill>
              </a:rPr>
              <a:t>Why Systolic Arrays?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74519"/>
            <a:ext cx="512064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 dirty="0">
                <a:solidFill>
                  <a:srgbClr val="FFFFFF"/>
                </a:solidFill>
              </a:rPr>
              <a:t>▸  Matrix multiply is at the core of ML inference, signal processing, and scientific computing.</a:t>
            </a:r>
          </a:p>
          <a:p>
            <a:pPr>
              <a:spcBef>
                <a:spcPts val="700"/>
              </a:spcBef>
            </a:pPr>
            <a:r>
              <a:rPr sz="1300" dirty="0">
                <a:solidFill>
                  <a:srgbClr val="FFFFFF"/>
                </a:solidFill>
              </a:rPr>
              <a:t>▸  Naive O(N³) software loops are too slow for real-time embedded and edge-AI systems.</a:t>
            </a:r>
          </a:p>
          <a:p>
            <a:pPr>
              <a:spcBef>
                <a:spcPts val="700"/>
              </a:spcBef>
            </a:pPr>
            <a:r>
              <a:rPr sz="1300" dirty="0">
                <a:solidFill>
                  <a:srgbClr val="FFFFFF"/>
                </a:solidFill>
              </a:rPr>
              <a:t>▸  Systolic arrays achieve high throughput through data-reuse: each PE computes a MAC every clock cycle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  <a:endParaRPr sz="1300" dirty="0">
              <a:solidFill>
                <a:srgbClr val="FFFFFF"/>
              </a:solidFill>
            </a:endParaRPr>
          </a:p>
          <a:p>
            <a:pPr>
              <a:spcBef>
                <a:spcPts val="700"/>
              </a:spcBef>
            </a:pPr>
            <a:r>
              <a:rPr sz="1300" dirty="0">
                <a:solidFill>
                  <a:srgbClr val="FFFFFF"/>
                </a:solidFill>
              </a:rPr>
              <a:t>▸  Parameterized RTL scales the same design from 2×2 (edge devices) to 16×16 (server-class) without re-engineering.</a:t>
            </a:r>
          </a:p>
          <a:p>
            <a:pPr>
              <a:spcBef>
                <a:spcPts val="700"/>
              </a:spcBef>
            </a:pPr>
            <a:r>
              <a:rPr sz="1300" dirty="0">
                <a:solidFill>
                  <a:srgbClr val="FFFFFF"/>
                </a:solidFill>
              </a:rPr>
              <a:t>▸  UVM verification ensures correctness is proven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sz="1300" dirty="0">
                <a:solidFill>
                  <a:srgbClr val="FFFFFF"/>
                </a:solidFill>
              </a:rPr>
              <a:t>not assumed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sz="1300" dirty="0">
                <a:solidFill>
                  <a:srgbClr val="FFFFFF"/>
                </a:solidFill>
              </a:rPr>
              <a:t>before tape-out.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280160"/>
            <a:ext cx="6080760" cy="507492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38988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300"/>
                </a:solidFill>
              </a:rPr>
              <a:t>Design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Language: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874519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SystemVerilog (RTL)  +  UVM (TB)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368295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Array Size: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68295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Parameterized N × N  (default N = 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862071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Data Width: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86207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8-bit inputs  (DATA_WIDTH)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55847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Accumulator: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355847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32-bit result  (ACCUM_WIDTH)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849623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FSM States: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849623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IDLE → LOAD → DRAIN → 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34339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Drain Time: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343399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2N cycles after last input 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837175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Verification: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837175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Constrained-random + 4 corner sequences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5330951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Coverage: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33095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Functional cover groups + cross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824727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Scoreboard: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5824727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Cycle-accurate SW reference model (A×B)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RTL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SystemVerilog — rtl/ folder  ·  4 key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889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ECE 593 — Spring 2026  |  Portland State University   3/8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5760720" cy="251460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pe.sv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Processing Element (PE)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MAC: accum += a_in × b_in every valid cycle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Pass-through: a_in → a_out  (horizontal),  b_in → b_out  (vertical)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Synchronous clear resets accumulator for back-to-back multiply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8-bit inputs / 32-bit accumulator prevents overflow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760720" cy="251460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76072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input_skew.sv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276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Input Skew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Staggers row i of matrix A by i clock cycles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Staggers col j of matrix B by j clock cycles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Aligns data so PE(i,j) receives correct elements simultaneously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Built from parameterized shift-register chains (no control logic)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977639"/>
            <a:ext cx="5760720" cy="251460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8600" y="3977639"/>
            <a:ext cx="5760720" cy="64008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4069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9214"/>
                </a:solidFill>
              </a:rPr>
              <a:t>controller.sv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251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FSM 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09159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4-state FSM: IDLE → LOAD → DRAIN → DONE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Counts N input cycles (LOAD), then 2N drain cycles (DRAIN)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Generates: clear, valid_in, ready, result_valid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BUG1: off-by-one in drain counter was caught by scoreboard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977639"/>
            <a:ext cx="5760720" cy="251460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977639"/>
            <a:ext cx="576072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0690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300"/>
                </a:solidFill>
              </a:rPr>
              <a:t>mm_accelerator_top.sv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3251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Top-Level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709159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Wires Controller → Input Skew → Systolic Array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Flat packed result bus: C[i][j] at result[(i×N+j)×ACCUM_WIDTH]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Supports back-to-back multiplications via clear pulse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CCCCC"/>
                </a:solidFill>
              </a:rPr>
              <a:t>•  All three params (N, DATA_WIDTH, ACCUM_WIDTH) propagate through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System Block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Data-flow through the accelerator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889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ECE 593 — Spring 2026  |  Portland State University   4/8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251460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a_in
[N×DW]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" y="324612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b_in
[N×DW]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916936"/>
            <a:ext cx="384048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9576" y="2852928"/>
            <a:ext cx="73152" cy="16459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3465575"/>
            <a:ext cx="384048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79576" y="3401567"/>
            <a:ext cx="73152" cy="16459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52728" y="2423160"/>
            <a:ext cx="2377440" cy="118872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52728" y="2423160"/>
            <a:ext cx="237744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62456" y="253288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Input Skew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2898648"/>
            <a:ext cx="2157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Stagger A by row i
Stagger B by col 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0168" y="2916936"/>
            <a:ext cx="384048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41064" y="2852928"/>
            <a:ext cx="73152" cy="16459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014215" y="2240280"/>
            <a:ext cx="3291840" cy="155448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14215" y="2240280"/>
            <a:ext cx="32918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23943" y="2350008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Systolic Array  (N×N PEs)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3" y="2715768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PE(i,j): accum += a×b
Horiz A · Vert B · Diag valid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056" y="2916936"/>
            <a:ext cx="384048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16952" y="2852928"/>
            <a:ext cx="73152" cy="16459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90104" y="2423160"/>
            <a:ext cx="2377440" cy="118872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90104" y="2423160"/>
            <a:ext cx="2377440" cy="64008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99832" y="253288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214"/>
                </a:solidFill>
              </a:rPr>
              <a:t>Output Pack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2" y="2898648"/>
            <a:ext cx="21579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result[(i×N+j)×ACCUM]
result_valid pulse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67544" y="2916936"/>
            <a:ext cx="45720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451592" y="2852928"/>
            <a:ext cx="73152" cy="16459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61320" y="260604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214"/>
                </a:solidFill>
              </a:rPr>
              <a:t>result
[N²×ACCUM]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52728" y="4069080"/>
            <a:ext cx="8814816" cy="1554480"/>
          </a:xfrm>
          <a:prstGeom prst="rect">
            <a:avLst/>
          </a:prstGeom>
          <a:solidFill>
            <a:srgbClr val="0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252728" y="4069080"/>
            <a:ext cx="8814816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435608" y="41788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Controller FSM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4599432"/>
            <a:ext cx="1463040" cy="6583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554480" y="46908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IDLE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6634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59" y="4599432"/>
            <a:ext cx="1463040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8999" y="46908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599" y="46634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78" y="4599432"/>
            <a:ext cx="1463040" cy="65836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18" y="46908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DRAIN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18" y="46634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86597" y="4599432"/>
            <a:ext cx="1463040" cy="658368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78037" y="46908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DONE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3657600"/>
            <a:ext cx="36576" cy="3200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62855" y="3657600"/>
            <a:ext cx="36576" cy="3200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238744" y="3657600"/>
            <a:ext cx="36576" cy="3200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A713D-D8D6-2038-6C82-13A6C29F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9AE565-3BE8-B85D-2EF5-099040714EE6}"/>
              </a:ext>
            </a:extLst>
          </p:cNvPr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9826E-62A0-C85B-6F84-E7158AE17C78}"/>
              </a:ext>
            </a:extLst>
          </p:cNvPr>
          <p:cNvSpPr txBox="1"/>
          <p:nvPr/>
        </p:nvSpPr>
        <p:spPr>
          <a:xfrm>
            <a:off x="354185" y="109728"/>
            <a:ext cx="1143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0D1B2A"/>
                </a:solidFill>
              </a:rPr>
              <a:t>UVM TESTBENCH ARCHITECTURE</a:t>
            </a:r>
          </a:p>
          <a:p>
            <a:pPr algn="l"/>
            <a:endParaRPr sz="3200" b="1" i="0" dirty="0">
              <a:solidFill>
                <a:srgbClr val="0D1B2A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F6615-1C5A-7B0C-8E88-95C5779F827A}"/>
              </a:ext>
            </a:extLst>
          </p:cNvPr>
          <p:cNvSpPr/>
          <p:nvPr/>
        </p:nvSpPr>
        <p:spPr>
          <a:xfrm>
            <a:off x="0" y="6464808"/>
            <a:ext cx="121889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CAD82-2B9E-1FF9-3B68-24A230BECD3E}"/>
              </a:ext>
            </a:extLst>
          </p:cNvPr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ECE 593 — Spring 2026  |  Portland State University   4/8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6944582-F211-1D97-1D3E-5899FF02F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515" y="1531603"/>
            <a:ext cx="7431305" cy="422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UVM Testbench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UVM_TB/ folder  ·  11 files  ·  component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889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ECE 593 — Spring 2026  |  Portland State University   5/8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5029200" cy="507492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Component 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04871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  └─ env  [mm_env]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35223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    ├─ agnt  [mm_agent]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65575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CCCCC"/>
                </a:solidFill>
              </a:rPr>
              <a:t>         ├─ </a:t>
            </a:r>
            <a:r>
              <a:rPr sz="1300" b="0" i="0" dirty="0" err="1">
                <a:solidFill>
                  <a:srgbClr val="CCCCCC"/>
                </a:solidFill>
              </a:rPr>
              <a:t>seqr</a:t>
            </a:r>
            <a:r>
              <a:rPr sz="1300" b="0" i="0" dirty="0">
                <a:solidFill>
                  <a:srgbClr val="CCCCCC"/>
                </a:solidFill>
              </a:rPr>
              <a:t>  [</a:t>
            </a:r>
            <a:r>
              <a:rPr sz="1300" b="0" i="0" dirty="0" err="1">
                <a:solidFill>
                  <a:srgbClr val="CCCCCC"/>
                </a:solidFill>
              </a:rPr>
              <a:t>mm_sequencer</a:t>
            </a:r>
            <a:r>
              <a:rPr sz="1300" b="0" i="0" dirty="0">
                <a:solidFill>
                  <a:srgbClr val="CCCCCC"/>
                </a:solidFill>
              </a:rPr>
              <a:t>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95927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CCCCC"/>
                </a:solidFill>
              </a:rPr>
              <a:t>      </a:t>
            </a:r>
            <a:r>
              <a:rPr lang="en-US" sz="1300" dirty="0">
                <a:solidFill>
                  <a:srgbClr val="CCCCCC"/>
                </a:solidFill>
              </a:rPr>
              <a:t> </a:t>
            </a:r>
            <a:r>
              <a:rPr sz="1300" b="0" i="0" dirty="0">
                <a:solidFill>
                  <a:srgbClr val="CCCCCC"/>
                </a:solidFill>
              </a:rPr>
              <a:t>  ├─ </a:t>
            </a:r>
            <a:r>
              <a:rPr sz="1300" b="0" i="0" dirty="0" err="1">
                <a:solidFill>
                  <a:srgbClr val="CCCCCC"/>
                </a:solidFill>
              </a:rPr>
              <a:t>drv</a:t>
            </a:r>
            <a:r>
              <a:rPr sz="1300" b="0" i="0" dirty="0">
                <a:solidFill>
                  <a:srgbClr val="CCCCCC"/>
                </a:solidFill>
              </a:rPr>
              <a:t>   [</a:t>
            </a:r>
            <a:r>
              <a:rPr sz="1300" b="0" i="0" dirty="0" err="1">
                <a:solidFill>
                  <a:srgbClr val="CCCCCC"/>
                </a:solidFill>
              </a:rPr>
              <a:t>mm_driver</a:t>
            </a:r>
            <a:r>
              <a:rPr sz="1300" b="0" i="0" dirty="0">
                <a:solidFill>
                  <a:srgbClr val="CCCCCC"/>
                </a:solidFill>
              </a:rPr>
              <a:t>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26279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CCCCC"/>
                </a:solidFill>
              </a:rPr>
              <a:t>         └─ </a:t>
            </a:r>
            <a:r>
              <a:rPr sz="1300" b="0" i="0" dirty="0" err="1">
                <a:solidFill>
                  <a:srgbClr val="CCCCCC"/>
                </a:solidFill>
              </a:rPr>
              <a:t>mon</a:t>
            </a:r>
            <a:r>
              <a:rPr sz="1300" b="0" i="0" dirty="0">
                <a:solidFill>
                  <a:srgbClr val="CCCCCC"/>
                </a:solidFill>
              </a:rPr>
              <a:t>   [</a:t>
            </a:r>
            <a:r>
              <a:rPr sz="1300" b="0" i="0" dirty="0" err="1">
                <a:solidFill>
                  <a:srgbClr val="CCCCCC"/>
                </a:solidFill>
              </a:rPr>
              <a:t>mm_monitor</a:t>
            </a:r>
            <a:r>
              <a:rPr sz="1300" b="0" i="0" dirty="0">
                <a:solidFill>
                  <a:srgbClr val="CCCCCC"/>
                </a:solidFill>
              </a:rPr>
              <a:t>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056631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6D6A0"/>
                </a:solidFill>
              </a:rPr>
              <a:t>   </a:t>
            </a:r>
            <a:r>
              <a:rPr lang="en-US" sz="1300" b="1" i="0" dirty="0">
                <a:solidFill>
                  <a:srgbClr val="06D6A0"/>
                </a:solidFill>
              </a:rPr>
              <a:t> </a:t>
            </a:r>
            <a:r>
              <a:rPr sz="1300" b="1" i="0" dirty="0">
                <a:solidFill>
                  <a:srgbClr val="06D6A0"/>
                </a:solidFill>
              </a:rPr>
              <a:t>├─ </a:t>
            </a:r>
            <a:r>
              <a:rPr sz="1300" b="1" i="0" dirty="0" err="1">
                <a:solidFill>
                  <a:srgbClr val="06D6A0"/>
                </a:solidFill>
              </a:rPr>
              <a:t>scb</a:t>
            </a:r>
            <a:r>
              <a:rPr sz="1300" b="1" i="0" dirty="0">
                <a:solidFill>
                  <a:srgbClr val="06D6A0"/>
                </a:solidFill>
              </a:rPr>
              <a:t>  [</a:t>
            </a:r>
            <a:r>
              <a:rPr sz="1300" b="1" i="0" dirty="0" err="1">
                <a:solidFill>
                  <a:srgbClr val="06D6A0"/>
                </a:solidFill>
              </a:rPr>
              <a:t>mm_scoreboard</a:t>
            </a:r>
            <a:r>
              <a:rPr sz="1300" b="1" i="0" dirty="0">
                <a:solidFill>
                  <a:srgbClr val="06D6A0"/>
                </a:solidFill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586983"/>
            <a:ext cx="4754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9214"/>
                </a:solidFill>
              </a:rPr>
              <a:t>    </a:t>
            </a:r>
            <a:r>
              <a:rPr lang="en-US" sz="1300" b="1" i="0" dirty="0">
                <a:solidFill>
                  <a:srgbClr val="FF9214"/>
                </a:solidFill>
              </a:rPr>
              <a:t> </a:t>
            </a:r>
            <a:r>
              <a:rPr sz="1300" b="1" i="0" dirty="0">
                <a:solidFill>
                  <a:srgbClr val="FF9214"/>
                </a:solidFill>
              </a:rPr>
              <a:t>└─ </a:t>
            </a:r>
            <a:r>
              <a:rPr sz="1300" b="1" i="0" dirty="0" err="1">
                <a:solidFill>
                  <a:srgbClr val="FF9214"/>
                </a:solidFill>
              </a:rPr>
              <a:t>cov</a:t>
            </a:r>
            <a:r>
              <a:rPr sz="1300" b="1" i="0" dirty="0">
                <a:solidFill>
                  <a:srgbClr val="FF9214"/>
                </a:solidFill>
              </a:rPr>
              <a:t>  [</a:t>
            </a:r>
            <a:r>
              <a:rPr sz="1300" b="1" i="0" dirty="0" err="1">
                <a:solidFill>
                  <a:srgbClr val="FF9214"/>
                </a:solidFill>
              </a:rPr>
              <a:t>mm_coverage</a:t>
            </a:r>
            <a:r>
              <a:rPr sz="1300" b="1" i="0" dirty="0">
                <a:solidFill>
                  <a:srgbClr val="FF9214"/>
                </a:solidFill>
              </a:rPr>
              <a:t>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1280160"/>
            <a:ext cx="6446520" cy="507492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138988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UVM_TB/ 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874519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tb_top.sv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874519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DUT inst + clk gen + UVM run_test()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2276855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mm_uvm_if.sv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276855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Virtual interface — clk, rst_n, DUT 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679191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mm_seq_item.sv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679191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Stimulus packet: a_in, b_in, corner_mode + rand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081527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mm_sequence.sv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081527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5 sequences: base / test / zero / identity / max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483863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mm_sequencer.sv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483863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Arbitrates items from sequence to driver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886199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214"/>
                </a:solidFill>
              </a:rPr>
              <a:t>mm_driver.sv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886199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Reset + drive start, valid_in_upstream, a/b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288535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214"/>
                </a:solidFill>
              </a:rPr>
              <a:t>mm_monitor.sv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288535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Observes result_valid, captures &amp; broadcasts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690871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mm_scoreboard.sv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690871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SW ref model: expected = A × B (32-bit accum)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093207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mm_coverage.sv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093207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Cover groups: corner modes, reset, b2b multiply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95543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mm_env.sv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495543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Builds agnt/scb/cov; wires TLM 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897879"/>
            <a:ext cx="21488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mm_test.sv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897879"/>
            <a:ext cx="3931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Selects sequences; sets UVM verbosity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Team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D1B2A"/>
                </a:solidFill>
              </a:rPr>
              <a:t>Equal split across RTL design and UVM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64808"/>
            <a:ext cx="1218895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ECE 593 — Spring 2026  |  Portland State University   7/8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98448"/>
            <a:ext cx="379476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Hanisha Dhananjaya Produtur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09344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1B2A"/>
                </a:solidFill>
              </a:rPr>
              <a:t>hanisha@pdx.edu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920240"/>
            <a:ext cx="3794760" cy="224028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9659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3317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mm_accelerator_top.sv</a:t>
            </a:r>
            <a:r>
              <a:rPr sz="1050" b="0" i="0" dirty="0">
                <a:solidFill>
                  <a:srgbClr val="FFFFFF"/>
                </a:solidFill>
              </a:rPr>
              <a:t> — top-level wiring &amp; param propagation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86207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systolic_array.sv</a:t>
            </a:r>
            <a:r>
              <a:rPr sz="1050" b="0" i="0" dirty="0">
                <a:solidFill>
                  <a:srgbClr val="FFFFFF"/>
                </a:solidFill>
              </a:rPr>
              <a:t> — N×N PE grid, </a:t>
            </a:r>
            <a:r>
              <a:rPr sz="1050" b="0" i="0" dirty="0" err="1">
                <a:solidFill>
                  <a:srgbClr val="FFFFFF"/>
                </a:solidFill>
              </a:rPr>
              <a:t>a_wire</a:t>
            </a:r>
            <a:r>
              <a:rPr sz="1050" b="0" i="0" dirty="0">
                <a:solidFill>
                  <a:srgbClr val="FFFFFF"/>
                </a:solidFill>
              </a:rPr>
              <a:t>/</a:t>
            </a:r>
            <a:r>
              <a:rPr sz="1050" b="0" i="0" dirty="0" err="1">
                <a:solidFill>
                  <a:srgbClr val="FFFFFF"/>
                </a:solidFill>
              </a:rPr>
              <a:t>b_wire</a:t>
            </a:r>
            <a:r>
              <a:rPr sz="1050" b="0" i="0" dirty="0">
                <a:solidFill>
                  <a:srgbClr val="FFFFFF"/>
                </a:solidFill>
              </a:rPr>
              <a:t> interconnect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24528"/>
            <a:ext cx="3794760" cy="224028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42702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UVM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46360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mm_env.sv</a:t>
            </a:r>
            <a:r>
              <a:rPr sz="1050" b="0" i="0" dirty="0">
                <a:solidFill>
                  <a:srgbClr val="FFFFFF"/>
                </a:solidFill>
              </a:rPr>
              <a:t> — build/connect phases, TLM analysis fan-out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51663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mm_scoreboard.sv</a:t>
            </a:r>
            <a:r>
              <a:rPr sz="1050" b="0" i="0" dirty="0">
                <a:solidFill>
                  <a:srgbClr val="FFFFFF"/>
                </a:solidFill>
              </a:rPr>
              <a:t> — SW reference model, element-wise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569671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mm_test.sv</a:t>
            </a:r>
            <a:r>
              <a:rPr sz="1050" b="0" i="0" dirty="0">
                <a:solidFill>
                  <a:srgbClr val="FFFFFF"/>
                </a:solidFill>
              </a:rPr>
              <a:t> — sequence selection, UVM verbosity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298448"/>
            <a:ext cx="3794760" cy="5669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132588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Nikhil Swarna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1609344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1B2A"/>
                </a:solidFill>
              </a:rPr>
              <a:t>nikhilsw@pdx.edu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1920240"/>
            <a:ext cx="3794760" cy="224028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70248" y="19659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RTL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3317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controller.sv — 4-state FSM (IDLE/LOAD/DRAIN/DONE)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286207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Drain-cycle counter &amp; </a:t>
            </a:r>
            <a:r>
              <a:rPr sz="1050" b="0" i="0" dirty="0" err="1">
                <a:solidFill>
                  <a:srgbClr val="FFFFFF"/>
                </a:solidFill>
              </a:rPr>
              <a:t>result_valid</a:t>
            </a:r>
            <a:r>
              <a:rPr sz="1050" b="0" i="0" dirty="0">
                <a:solidFill>
                  <a:srgbClr val="FFFFFF"/>
                </a:solidFill>
              </a:rPr>
              <a:t> timing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4224528"/>
            <a:ext cx="3794760" cy="224028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0248" y="42702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UVM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46360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mm_driver.sv</a:t>
            </a:r>
            <a:r>
              <a:rPr sz="1050" b="0" i="0" dirty="0">
                <a:solidFill>
                  <a:srgbClr val="FFFFFF"/>
                </a:solidFill>
              </a:rPr>
              <a:t> —</a:t>
            </a:r>
            <a:r>
              <a:rPr lang="en-US" sz="1050" b="0" i="0" dirty="0">
                <a:solidFill>
                  <a:srgbClr val="FFFFFF"/>
                </a:solidFill>
              </a:rPr>
              <a:t> </a:t>
            </a:r>
            <a:r>
              <a:rPr sz="1050" b="0" i="0" dirty="0">
                <a:solidFill>
                  <a:srgbClr val="FFFFFF"/>
                </a:solidFill>
              </a:rPr>
              <a:t>reset, start handshake, N-cycle data drive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516636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mm_sequence.sv</a:t>
            </a:r>
            <a:r>
              <a:rPr sz="1050" b="0" i="0" dirty="0">
                <a:solidFill>
                  <a:srgbClr val="FFFFFF"/>
                </a:solidFill>
              </a:rPr>
              <a:t> — 5 sequence classes (base/test/zero/ident/max)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569671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mm_sequencer.sv</a:t>
            </a:r>
            <a:r>
              <a:rPr sz="1050" b="0" i="0" dirty="0">
                <a:solidFill>
                  <a:srgbClr val="FFFFFF"/>
                </a:solidFill>
              </a:rPr>
              <a:t> — TLM arbitration, </a:t>
            </a:r>
            <a:r>
              <a:rPr sz="1050" b="0" i="0" dirty="0" err="1">
                <a:solidFill>
                  <a:srgbClr val="FFFFFF"/>
                </a:solidFill>
              </a:rPr>
              <a:t>seq_item_export</a:t>
            </a:r>
            <a:r>
              <a:rPr sz="1050" b="0" i="0" dirty="0">
                <a:solidFill>
                  <a:srgbClr val="FFFFFF"/>
                </a:solidFill>
              </a:rPr>
              <a:t> wiring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1298448"/>
            <a:ext cx="3794760" cy="566928"/>
          </a:xfrm>
          <a:prstGeom prst="rect">
            <a:avLst/>
          </a:prstGeom>
          <a:solidFill>
            <a:srgbClr val="FF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1325880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Venkat Sai Sumanth Koyada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609344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1B2A"/>
                </a:solidFill>
              </a:rPr>
              <a:t>koyada@pdx.edu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1920240"/>
            <a:ext cx="3794760" cy="224028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47888" y="19659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214"/>
                </a:solidFill>
              </a:rPr>
              <a:t>RTL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23317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pe.sv — MAC datapath, pass-through, valid pipeline, clear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86207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input_skew.sv — parameterized shift-register skew chains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4224528"/>
            <a:ext cx="3794760" cy="224028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47888" y="42702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214"/>
                </a:solidFill>
              </a:rPr>
              <a:t>UVM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463600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mm_monitor.sv</a:t>
            </a:r>
            <a:r>
              <a:rPr sz="1050" b="0" i="0" dirty="0">
                <a:solidFill>
                  <a:srgbClr val="FFFFFF"/>
                </a:solidFill>
              </a:rPr>
              <a:t> — observes </a:t>
            </a:r>
            <a:r>
              <a:rPr sz="1050" b="0" i="0" dirty="0" err="1">
                <a:solidFill>
                  <a:srgbClr val="FFFFFF"/>
                </a:solidFill>
              </a:rPr>
              <a:t>result_valid</a:t>
            </a:r>
            <a:r>
              <a:rPr sz="1050" b="0" i="0" dirty="0">
                <a:solidFill>
                  <a:srgbClr val="FFFFFF"/>
                </a:solidFill>
              </a:rPr>
              <a:t>, broadcasts </a:t>
            </a:r>
            <a:r>
              <a:rPr sz="1050" b="0" i="0" dirty="0" err="1">
                <a:solidFill>
                  <a:srgbClr val="FFFFFF"/>
                </a:solidFill>
              </a:rPr>
              <a:t>seq_item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5274633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▸  mm_coverage.sv — cover groups: corner modes, reset, b2b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569671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sz="1050" b="0" i="0" dirty="0" err="1">
                <a:solidFill>
                  <a:srgbClr val="FFFFFF"/>
                </a:solidFill>
              </a:rPr>
              <a:t>mm_seq_item.sv</a:t>
            </a:r>
            <a:r>
              <a:rPr sz="1050" b="0" i="0" dirty="0">
                <a:solidFill>
                  <a:srgbClr val="FFFFFF"/>
                </a:solidFill>
              </a:rPr>
              <a:t> — packet class, rand constraints, </a:t>
            </a:r>
            <a:r>
              <a:rPr sz="1050" b="0" i="0" dirty="0" err="1">
                <a:solidFill>
                  <a:srgbClr val="FFFFFF"/>
                </a:solidFill>
              </a:rPr>
              <a:t>post_randomize</a:t>
            </a:r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F7E40C-8912-4701-50CB-6C29A0CFF3F2}"/>
              </a:ext>
            </a:extLst>
          </p:cNvPr>
          <p:cNvSpPr txBox="1"/>
          <p:nvPr/>
        </p:nvSpPr>
        <p:spPr>
          <a:xfrm>
            <a:off x="4270248" y="4928616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 dirty="0">
                <a:solidFill>
                  <a:srgbClr val="FFFFFF"/>
                </a:solidFill>
              </a:rPr>
              <a:t>▸  </a:t>
            </a:r>
            <a:r>
              <a:rPr lang="en-US" sz="1050" b="0" i="0" dirty="0" err="1">
                <a:solidFill>
                  <a:srgbClr val="FFFFFF"/>
                </a:solidFill>
              </a:rPr>
              <a:t>mm_uvm_if.sv</a:t>
            </a:r>
            <a:r>
              <a:rPr lang="en-US" sz="1050" b="0" i="0" dirty="0">
                <a:solidFill>
                  <a:srgbClr val="FFFFFF"/>
                </a:solidFill>
              </a:rPr>
              <a:t> -  </a:t>
            </a:r>
            <a:r>
              <a:rPr lang="en-US" sz="1050" dirty="0">
                <a:solidFill>
                  <a:srgbClr val="FFFFFF"/>
                </a:solidFill>
              </a:rPr>
              <a:t>Bundles all DUT I/O</a:t>
            </a:r>
          </a:p>
          <a:p>
            <a:pPr algn="l"/>
            <a:endParaRPr sz="1050" b="0" i="0" dirty="0">
              <a:solidFill>
                <a:srgbClr val="FFFFFF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6D43B2-7420-1510-98F0-96CC4ABDC721}"/>
              </a:ext>
            </a:extLst>
          </p:cNvPr>
          <p:cNvSpPr txBox="1"/>
          <p:nvPr/>
        </p:nvSpPr>
        <p:spPr>
          <a:xfrm>
            <a:off x="292608" y="4898621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FFFFFF"/>
                </a:solidFill>
              </a:rPr>
              <a:t>▸ </a:t>
            </a:r>
            <a:r>
              <a:rPr lang="en-US" sz="1050" dirty="0" err="1">
                <a:solidFill>
                  <a:srgbClr val="FFFFFF"/>
                </a:solidFill>
              </a:rPr>
              <a:t>tb_top.sv</a:t>
            </a:r>
            <a:r>
              <a:rPr lang="en-US" sz="1050" dirty="0">
                <a:solidFill>
                  <a:srgbClr val="FFFFFF"/>
                </a:solidFill>
              </a:rPr>
              <a:t>- DUT + interface instantiation</a:t>
            </a:r>
          </a:p>
          <a:p>
            <a:endParaRPr sz="1050" dirty="0">
              <a:solidFill>
                <a:srgbClr val="FFFFFF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F7913A-0C3F-7DF8-86AF-A59FF576C669}"/>
              </a:ext>
            </a:extLst>
          </p:cNvPr>
          <p:cNvSpPr txBox="1"/>
          <p:nvPr/>
        </p:nvSpPr>
        <p:spPr>
          <a:xfrm>
            <a:off x="8229600" y="5010912"/>
            <a:ext cx="35661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 dirty="0">
                <a:solidFill>
                  <a:srgbClr val="FFFFFF"/>
                </a:solidFill>
              </a:rPr>
              <a:t>▸</a:t>
            </a:r>
            <a:r>
              <a:rPr lang="en-US" sz="1050" b="0" i="0" dirty="0" err="1">
                <a:solidFill>
                  <a:srgbClr val="FFFFFF"/>
                </a:solidFill>
              </a:rPr>
              <a:t>mm_agent.sv</a:t>
            </a:r>
            <a:r>
              <a:rPr lang="en-US" sz="1050" b="0" i="0" dirty="0">
                <a:solidFill>
                  <a:srgbClr val="FFFFFF"/>
                </a:solidFill>
              </a:rPr>
              <a:t> -</a:t>
            </a:r>
            <a:r>
              <a:rPr lang="en-US" sz="1050" dirty="0">
                <a:solidFill>
                  <a:srgbClr val="FFFFFF"/>
                </a:solidFill>
              </a:rPr>
              <a:t>Factory creates </a:t>
            </a:r>
            <a:r>
              <a:rPr lang="en-US" sz="1050" dirty="0" err="1">
                <a:solidFill>
                  <a:srgbClr val="FFFFFF"/>
                </a:solidFill>
              </a:rPr>
              <a:t>seqr</a:t>
            </a:r>
            <a:r>
              <a:rPr lang="en-US" sz="1050" dirty="0">
                <a:solidFill>
                  <a:srgbClr val="FFFFFF"/>
                </a:solidFill>
              </a:rPr>
              <a:t>/</a:t>
            </a:r>
            <a:r>
              <a:rPr lang="en-US" sz="1050" dirty="0" err="1">
                <a:solidFill>
                  <a:srgbClr val="FFFFFF"/>
                </a:solidFill>
              </a:rPr>
              <a:t>drv</a:t>
            </a:r>
            <a:r>
              <a:rPr lang="en-US" sz="1050" dirty="0">
                <a:solidFill>
                  <a:srgbClr val="FFFFFF"/>
                </a:solidFill>
              </a:rPr>
              <a:t>/</a:t>
            </a:r>
            <a:r>
              <a:rPr lang="en-US" sz="1050" dirty="0" err="1">
                <a:solidFill>
                  <a:srgbClr val="FFFFFF"/>
                </a:solidFill>
              </a:rPr>
              <a:t>mon</a:t>
            </a:r>
            <a:endParaRPr lang="en-US" sz="1050" dirty="0">
              <a:solidFill>
                <a:srgbClr val="FFFFFF"/>
              </a:solidFill>
            </a:endParaRPr>
          </a:p>
          <a:p>
            <a:pPr algn="l"/>
            <a:endParaRPr sz="1050" b="0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1248</Words>
  <Application>Microsoft Office PowerPoint</Application>
  <PresentationFormat>Custom</PresentationFormat>
  <Paragraphs>153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Sumanth</dc:creator>
  <cp:keywords/>
  <dc:description>generated using python-pptx</dc:description>
  <cp:lastModifiedBy>Sai Sumanth</cp:lastModifiedBy>
  <cp:revision>4</cp:revision>
  <dcterms:created xsi:type="dcterms:W3CDTF">2013-01-27T09:14:16Z</dcterms:created>
  <dcterms:modified xsi:type="dcterms:W3CDTF">2026-06-03T01:05:58Z</dcterms:modified>
  <cp:category/>
</cp:coreProperties>
</file>